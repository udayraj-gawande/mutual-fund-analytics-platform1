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Monthly SIP Inflows (₹ 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SIP Inflow (₹Cr)</c:v>
                </c:pt>
              </c:strCache>
            </c:strRef>
          </c:tx>
          <c:spPr>
            <a:solidFill>
              <a:srgbClr val="2E4A9E"/>
            </a:solidFill>
            <a:ln w="38100" cap="flat">
              <a:solidFill>
                <a:srgbClr val="2E4A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4A9E"/>
              </a:solidFill>
              <a:ln w="9525" cap="flat">
                <a:solidFill>
                  <a:srgbClr val="2E4A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 2022</c:v>
                  </c:pt>
                  <c:pt idx="1">
                    <c:v>Dec 2022</c:v>
                  </c:pt>
                  <c:pt idx="2">
                    <c:v>Dec 2023</c:v>
                  </c:pt>
                  <c:pt idx="3">
                    <c:v>Dec 2024</c:v>
                  </c:pt>
                  <c:pt idx="4">
                    <c:v>Dec 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11517</c:v>
                </c:pt>
                <c:pt idx="1">
                  <c:v>13573</c:v>
                </c:pt>
                <c:pt idx="2">
                  <c:v>17610</c:v>
                </c:pt>
                <c:pt idx="3">
                  <c:v>26459</c:v>
                </c:pt>
                <c:pt idx="4">
                  <c:v>31002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Top 5 Fund Houses by AUM (₹ Lakh Cr)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(₹ Lakh Cr est.)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SBI MF</c:v>
                  </c:pt>
                  <c:pt idx="1">
                    <c:v>ICICI Pru</c:v>
                  </c:pt>
                  <c:pt idx="2">
                    <c:v>HDFC MF</c:v>
                  </c:pt>
                  <c:pt idx="3">
                    <c:v>Nippon India</c:v>
                  </c:pt>
                  <c:pt idx="4">
                    <c:v>Kotak MF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12.5</c:v>
                </c:pt>
                <c:pt idx="1">
                  <c:v>10.74</c:v>
                </c:pt>
                <c:pt idx="2">
                  <c:v>9.3</c:v>
                </c:pt>
                <c:pt idx="3">
                  <c:v>7</c:v>
                </c:pt>
                <c:pt idx="4">
                  <c:v>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Transaction Type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2E4A9E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SIP</c:v>
                </c:pt>
                <c:pt idx="1">
                  <c:v>Lumpsum</c:v>
                </c:pt>
                <c:pt idx="2">
                  <c:v>Redemption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60.2</c:v>
                </c:pt>
                <c:pt idx="1">
                  <c:v>24.7</c:v>
                </c:pt>
                <c:pt idx="2">
                  <c:v>15.2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Age Group Distribution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Transactions</c:v>
                </c:pt>
              </c:strCache>
            </c:strRef>
          </c:tx>
          <c:spPr>
            <a:solidFill>
              <a:srgbClr val="2E4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4A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4A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4A9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4A9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18–25</c:v>
                  </c:pt>
                  <c:pt idx="1">
                    <c:v>26–35</c:v>
                  </c:pt>
                  <c:pt idx="2">
                    <c:v>36–45</c:v>
                  </c:pt>
                  <c:pt idx="3">
                    <c:v>46–55</c:v>
                  </c:pt>
                  <c:pt idx="4">
                    <c:v>56+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41.1</c:v>
                </c:pt>
                <c:pt idx="2">
                  <c:v>24.8</c:v>
                </c:pt>
                <c:pt idx="3">
                  <c:v>11.5</c:v>
                </c:pt>
                <c:pt idx="4">
                  <c:v>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Category-Wise 3-Year Returns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3-Year Return (%)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4A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4A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4A9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4A9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4A9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Small Cap</c:v>
                  </c:pt>
                  <c:pt idx="1">
                    <c:v>Mid Cap</c:v>
                  </c:pt>
                  <c:pt idx="2">
                    <c:v>Flexi Cap</c:v>
                  </c:pt>
                  <c:pt idx="3">
                    <c:v>Value</c:v>
                  </c:pt>
                  <c:pt idx="4">
                    <c:v>Lg &amp; Mid Cap</c:v>
                  </c:pt>
                  <c:pt idx="5">
                    <c:v>Large Cap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21.69</c:v>
                </c:pt>
                <c:pt idx="1">
                  <c:v>16.59</c:v>
                </c:pt>
                <c:pt idx="2">
                  <c:v>15.5</c:v>
                </c:pt>
                <c:pt idx="3">
                  <c:v>14.76</c:v>
                </c:pt>
                <c:pt idx="4">
                  <c:v>14.56</c:v>
                </c:pt>
                <c:pt idx="5">
                  <c:v>12.4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Best Risk-Adjusted Funds (Sharpe Ratio)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0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4A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4A9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4A9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ICICI Pru Liquid</c:v>
                  </c:pt>
                  <c:pt idx="1">
                    <c:v>Kotak Liquid</c:v>
                  </c:pt>
                  <c:pt idx="2">
                    <c:v>ABSL Liquid</c:v>
                  </c:pt>
                  <c:pt idx="3">
                    <c:v>HDFC Short Term</c:v>
                  </c:pt>
                  <c:pt idx="4">
                    <c:v>SBI Magnum Gilt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7.68</c:v>
                </c:pt>
                <c:pt idx="1">
                  <c:v>6.18</c:v>
                </c:pt>
                <c:pt idx="2">
                  <c:v>5.14</c:v>
                </c:pt>
                <c:pt idx="3">
                  <c:v>1.84</c:v>
                </c:pt>
                <c:pt idx="4">
                  <c:v>1.52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gap in the Indian MF market for data tools. State the 4 key deliverables.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all data was clean (0 nulls post-cleaning). MFAPI.in provided live NAV for 5 large-cap schemes.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stage briefly. Emphasise 0-null quality across all 10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170% growth number — it's the star stat of the EDA. The AUM chart shows where money is parked.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SIP retention stat is critical for AMC strategy recommendations. Highlight the 26-35 age dominance.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all top 5 performers are Small Cap funds — with returns 8-11 pp above Large Cap, but at higher drawdown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Sharpe ratio difference: Liquid at 7.68 vs Small Cap at ~0.8. Completely different risk profiles.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Page 1 live if possible. Highlight the slicers for fund_house, category, and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SIP continuity gauge — it's the most actionable visual for AMCs.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each finding with its supporting number. Recommendations section anchored in data, not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2E4A9E">
              <a:alpha val="40000"/>
            </a:srgbClr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657600"/>
            <a:ext cx="3200400" cy="320040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 |  Bluestock Fintech Internship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64008" cy="640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383280"/>
            <a:ext cx="64008" cy="64008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383280"/>
            <a:ext cx="64008" cy="64008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74904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405993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Udayraj Gawande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374904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405993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374904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05993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SQLite · Power BI · Jupyter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Track  |  Jan 2022 – Dec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8F0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retail investors lack actionable, data-driven tools to evaluate mutual fund performance, manage SIP discipline, and understand portfolio risk.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distributors and AMCs have no unified view linking investor behaviour, market trends, and risk metrics in one platform.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0F4FF"/>
          </a:solidFill>
          <a:ln w="25400">
            <a:solidFill>
              <a:srgbClr val="2E4A9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40 mutual fund schemes across 10 fund houses (Jan 2022–Dec 2025)
</a:t>
            </a:r>
            <a:pPr indent="0" marL="0">
              <a:buNone/>
            </a:pPr>
            <a:r>
              <a:rPr lang="en-US" sz="130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ETL pipeline: AMFI data + live NAV → cleaned SQLite database
</a:t>
            </a:r>
            <a:pPr indent="0" marL="0">
              <a:buNone/>
            </a:pPr>
            <a:r>
              <a:rPr lang="en-US" sz="130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across 32,778 investor transactions from 5,000 investors
</a:t>
            </a:r>
            <a:pPr indent="0" marL="0">
              <a:buNone/>
            </a:pPr>
            <a:r>
              <a:rPr lang="en-US" sz="130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4-page Power BI dashboard covering industry, performance, behaviour &amp; risk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983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48640" y="5715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48463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4983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383280" y="5715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48463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4983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217920" y="5715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61120" y="48463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52560" y="4983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052560" y="5715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Coverage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9418320" cy="3840480"/>
        </p:xfrm>
        <a:graphic>
          <a:graphicData uri="http://schemas.openxmlformats.org/drawingml/2006/table">
            <a:tbl>
              <a:tblPr/>
              <a:tblGrid>
                <a:gridCol w="457200"/>
                <a:gridCol w="2834640"/>
                <a:gridCol w="1463040"/>
                <a:gridCol w="457200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fund_master.csv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schemes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code, fund house, category, expense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nav_history.csv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code, date, NAV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investor_transactions.csv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ID, type, amount, state, age, gender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scheme_performance.csv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schemes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1Y/3Y/5Y returns, Sharpe, alpha, beta, drawdown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monthly_sip_inflows.csv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inflow (₹Cr), active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benchmark_indices.csv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8,050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NIFTY50, NIFTY100, BSE_SMALLCAP, CRISIL_GILT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07–10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aum, folios, holdings, inflows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650+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 by fund house, sector weights, category inflows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0149840" y="1188720"/>
            <a:ext cx="1600200" cy="384048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195560" y="13716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MB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195560" y="18105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195560" y="22860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127K+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195560" y="27249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195560" y="3200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195560" y="36393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195560" y="41148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195560" y="4553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5257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AMFI Public Data  ·  MFAPI.in REST API  ·  Simulated Investor Transaction Records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984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 INGESTION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live_nav_fetch.py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 REST API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CSV files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01_data_ingestion.ipynb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77640" y="2606040"/>
            <a:ext cx="274320" cy="0"/>
          </a:xfrm>
          <a:prstGeom prst="line">
            <a:avLst/>
          </a:prstGeom>
          <a:noFill/>
          <a:ln w="25400">
            <a:solidFill>
              <a:srgbClr val="2E4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2487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11887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12984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CLEAN &amp; TRANSFORM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17830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02_data_cleaning.ipynb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standardization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normalization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YoY SIP growth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2606040"/>
            <a:ext cx="274320" cy="0"/>
          </a:xfrm>
          <a:prstGeom prst="line">
            <a:avLst/>
          </a:prstGeom>
          <a:noFill/>
          <a:ln w="25400">
            <a:solidFill>
              <a:srgbClr val="2E4A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2487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0" y="11887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E8A02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09560" y="12984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LOAD TO 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17830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load_to_db.py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bluestock_mf.db (SQLite)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if_exists='replace'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10698480" cy="210312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480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 — bluestock_mf.db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138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rows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394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 (AMFI code, name, category)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4846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5138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 rows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5394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history per scheme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4846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investor_transactions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5138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rows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5394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investor transaction ledger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0" y="4846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scheme_performance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0" y="5138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rows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0" y="5394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performance metrics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 —  SIP Growth &amp; Industry AUM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4300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675120" y="11430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572000"/>
            <a:ext cx="5669280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85800" y="4663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170% Growth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685800" y="51663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grew from ₹11,438 Cr to ₹31,002 Cr in just 4 years — reflecting a structural shift from FDs to equity investing.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92240" y="457200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720840" y="4663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Concentration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720840" y="51663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fund houses (SBI, ICICI Pru, HDFC) control ~60% of total industry AUM — indicating moderate market concentration.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 —  Investor Demographics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38404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1188720"/>
          <a:ext cx="4572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9509760" y="118872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9601200" y="120700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66.5%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0515600" y="120700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Investors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9509760" y="196596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601200" y="198424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0515600" y="198424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City Transactions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9509760" y="27432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601200" y="276148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0515600" y="276148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Investors at Risk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3520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601200" y="353872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₹1.07L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0515600" y="353872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Investment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443484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3CD"/>
          </a:solidFill>
          <a:ln w="254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31520" y="4526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SIP RETENTION ALERT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31520" y="4919472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1,332 investors flagged as at-risk (&gt;45-day gap) vs. just 30 active. Average SIP gap = 64.9 days — investors are effectively missing every other installment. Proactive retention programs are urgently needed.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14.38%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1-Year Return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234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14.09%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3-Year Return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234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Sharpe Ratio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118872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52560" y="1234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-19.2%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52560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Max Drawdown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by 3-Year Return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3-Yr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Fund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-30.87%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ABSL Small Cap Fund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Small Cap Fund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-27.19%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India Small 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-25.65%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 0" descr=""/>
          <p:cNvGraphicFramePr/>
          <p:nvPr/>
        </p:nvGraphicFramePr>
        <p:xfrm>
          <a:off x="6400800" y="1188720"/>
          <a:ext cx="53035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Performance Analysis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2344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261872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63840" y="12618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Avg Drawdown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1609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only for 5+ year horizon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92240" y="224028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0" y="2267712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8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863840" y="22677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 Sharpe Range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63840" y="26151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emergency corpus &amp; parking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324612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83680" y="3273552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863840" y="32735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Alpha (all schemes)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63840" y="36210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outperformance vs benchmark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92240" y="42519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83680" y="4279392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863840" y="4279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Beta (equity funds)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863840" y="46268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Market-correlated; limited downside hedge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892040"/>
            <a:ext cx="1124712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85800" y="4983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" y="532180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dominate risk-adjusted rankings (Sharpe 5–8) while Small Cap funds lead raw returns. A well-balanced portfolio should use Flexi Cap as core, Liquid for liquidity, and Small Cap only with a long horizon.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9728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—  Industry &amp; Performance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6858000" cy="438912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589520" y="105156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 —  Industry Overview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157276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trend, AUM by fund house, folio count growth, category net inflows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89520" y="338328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2E4A9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 —  Fund Scorecard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0" y="390448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by 3-yr return, Sharpe vs return scatter, alpha leaderboard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5623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 ·  bluestock_mf.pbix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9728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—  Investor Behaviour &amp; Risk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6858000" cy="438912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589520" y="105156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1A356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 —  Investor Behaviour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157276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 split, state heatmap, age &amp; gender dist., T30 vs B30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89520" y="338328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1A356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 —  Risk &amp; Advanced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0" y="390448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VaR/CVaR, HHI heatmap, drawdown vs beta, SIP continuity gauge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5623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 ·  bluestock_mf.pbix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6420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Surge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inflows grew 170% in 4 years to ₹31,002 Cr.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548640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45973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Leads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21.7% avg 3-year return — 8-11 pp above Large Cap average.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91256"/>
            <a:ext cx="548640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5526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= Safest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5–8 for liquid funds; ideal for emergency corpus.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86784"/>
            <a:ext cx="548640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405079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Youth-Led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transactions from 26–35 age group.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782312"/>
            <a:ext cx="548640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8463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Crisis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of SIP investors show irregular gaps (avg 64.9 days).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577840"/>
            <a:ext cx="548640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564184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Bias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drive 66% of volume; B30 is an untapped opportunity.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6002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1664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AMCs &amp; Distributors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1984248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B30 cities with digital SIP campaigns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SIP retention programs to close the 65-day gap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female investor outreach (33.5% → higher)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3172968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32369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557016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Flexi Cap as core holding for balanced risk-return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Liquid funds as emergency corpus (Sharpe 5–8)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 Cap only for 5+ year horizon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745736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37960" y="48097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Enhancements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5129784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NAV alerting system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Rule-based fund recommender engine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 ETL with daily AMFI refresh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2E4A9E">
              <a:alpha val="25000"/>
            </a:srgbClr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011680"/>
            <a:ext cx="12161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</dc:title>
  <dc:subject>PptxGenJS Presentation</dc:subject>
  <dc:creator>Udayraj Gawande</dc:creator>
  <cp:lastModifiedBy>Udayraj Gawande</cp:lastModifiedBy>
  <cp:revision>1</cp:revision>
  <dcterms:created xsi:type="dcterms:W3CDTF">2026-06-12T08:24:58Z</dcterms:created>
  <dcterms:modified xsi:type="dcterms:W3CDTF">2026-06-12T08:24:58Z</dcterms:modified>
</cp:coreProperties>
</file>